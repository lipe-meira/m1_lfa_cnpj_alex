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419C962-A6A2-4C19-B461-190AFD30442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48D7FF"/>
          </a:solidFill>
          <a:ln w="0">
            <a:solidFill>
              <a:srgbClr val="48D7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7905600" y="0"/>
            <a:ext cx="4285800" cy="6857640"/>
          </a:xfrm>
          <a:prstGeom prst="rect">
            <a:avLst/>
          </a:prstGeom>
          <a:solidFill>
            <a:srgbClr val="102536"/>
          </a:solidFill>
          <a:ln w="0">
            <a:solidFill>
              <a:srgbClr val="10253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590400" y="399960"/>
            <a:ext cx="1257120" cy="85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"/>
          <p:cNvSpPr/>
          <p:nvPr/>
        </p:nvSpPr>
        <p:spPr>
          <a:xfrm>
            <a:off x="590400" y="1428840"/>
            <a:ext cx="552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LINGUAGENS FORMAIS E AUTÔMATOS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590400" y="1886040"/>
            <a:ext cx="6190920" cy="15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495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CNPJ</a:t>
            </a:r>
            <a:endParaRPr lang="en-US" sz="4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495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alfanumérico</a:t>
            </a:r>
            <a:endParaRPr lang="en-US" sz="4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28560" y="3638520"/>
            <a:ext cx="619092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Gramática Regular, AFD e reconhecimento de padrões na Web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8229600" y="2343240"/>
            <a:ext cx="354312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320" b="1" u="none" strike="noStrike">
                <a:solidFill>
                  <a:srgbClr val="48D7FF"/>
                </a:solidFill>
                <a:effectLst/>
                <a:uFillTx/>
                <a:latin typeface="Courier New"/>
                <a:ea typeface="Courier New"/>
              </a:rPr>
              <a:t>XX.XXX.XXX/XXXX-DD</a:t>
            </a:r>
            <a:endParaRPr lang="en-US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8420040" y="3181320"/>
            <a:ext cx="3142800" cy="7596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8191440" y="3676680"/>
            <a:ext cx="17143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19 estados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0001160" y="3676680"/>
            <a:ext cx="17143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39 símbolos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8248680" y="4381560"/>
            <a:ext cx="342864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Execução direta do AFD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sem biblioteca de regex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628560" y="5638680"/>
            <a:ext cx="6571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Felipe Meira · Andrey Marques · Nilson Roffman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628560" y="5981760"/>
            <a:ext cx="6571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Professor Alex Luciano Roesler Rese, MSc. · 2026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552600" y="266760"/>
            <a:ext cx="533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CNPJ ALFANUMÉRICO · LFA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52600" y="53352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0B1724"/>
                </a:solidFill>
                <a:effectLst/>
                <a:uFillTx/>
                <a:latin typeface="Arial"/>
                <a:ea typeface="Arial"/>
              </a:rPr>
              <a:t>O formato muda, mas mantém as 14 posições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10991880" y="399960"/>
            <a:ext cx="666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r">
              <a:lnSpc>
                <a:spcPct val="100000"/>
              </a:lnSpc>
            </a:pPr>
            <a:r>
              <a:rPr lang="en-US" sz="22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552600" y="1276200"/>
            <a:ext cx="11067840" cy="18720"/>
          </a:xfrm>
          <a:prstGeom prst="rect">
            <a:avLst/>
          </a:prstGeom>
          <a:solidFill>
            <a:srgbClr val="B7C7D6"/>
          </a:solidFill>
          <a:ln w="0">
            <a:solidFill>
              <a:srgbClr val="B7C7D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552600" y="650556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UNIVALI · Ciência da Computação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1123920" y="1752480"/>
            <a:ext cx="990576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3900" b="1" u="none" strike="noStrike">
                <a:solidFill>
                  <a:srgbClr val="3D8DFF"/>
                </a:solidFill>
                <a:effectLst/>
                <a:uFillTx/>
                <a:latin typeface="Courier New"/>
                <a:ea typeface="Courier New"/>
              </a:rPr>
              <a:t>XX.XXX.XXX/XXXX-DD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2571840" y="2571840"/>
            <a:ext cx="7048080" cy="75960"/>
          </a:xfrm>
          <a:prstGeom prst="rect">
            <a:avLst/>
          </a:prstGeom>
          <a:solidFill>
            <a:srgbClr val="48D7FF"/>
          </a:solidFill>
          <a:ln w="0">
            <a:solidFill>
              <a:srgbClr val="48D7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723960" y="316224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352520" y="3181320"/>
            <a:ext cx="270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0B1724"/>
                </a:solidFill>
                <a:effectLst/>
                <a:uFillTx/>
                <a:latin typeface="Arial"/>
                <a:ea typeface="Arial"/>
              </a:rPr>
              <a:t>posições alfanuméricas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352520" y="3524400"/>
            <a:ext cx="27046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Aceitam letras maiúsculas de A a Z ou números de 0 a 9.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4419720" y="316224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5048280" y="3181320"/>
            <a:ext cx="270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0B1724"/>
                </a:solidFill>
                <a:effectLst/>
                <a:uFillTx/>
                <a:latin typeface="Arial"/>
                <a:ea typeface="Arial"/>
              </a:rPr>
              <a:t>dígitos verificadores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048280" y="3524400"/>
            <a:ext cx="27046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As duas últimas posições continuam exclusivamente numéricas.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8115480" y="316224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8744040" y="3181320"/>
            <a:ext cx="270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0B1724"/>
                </a:solidFill>
                <a:effectLst/>
                <a:uFillTx/>
                <a:latin typeface="Arial"/>
                <a:ea typeface="Arial"/>
              </a:rPr>
              <a:t>símbolos fixos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8744040" y="3524400"/>
            <a:ext cx="27046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Dois pontos, uma barra e um hífen aparecem exatamente na máscara.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723960" y="5029200"/>
            <a:ext cx="10724760" cy="856800"/>
          </a:xfrm>
          <a:prstGeom prst="roundRect">
            <a:avLst>
              <a:gd name="adj" fmla="val 8889"/>
            </a:avLst>
          </a:prstGeom>
          <a:solidFill>
            <a:srgbClr val="0B1724"/>
          </a:solidFill>
          <a:ln w="9525">
            <a:solidFill>
              <a:srgbClr val="0B17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990720" y="5257800"/>
            <a:ext cx="11426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130" b="1" u="none" strike="noStrike">
                <a:solidFill>
                  <a:srgbClr val="3AD29F"/>
                </a:solidFill>
                <a:effectLst/>
                <a:uFillTx/>
                <a:latin typeface="Arial"/>
                <a:ea typeface="Arial"/>
              </a:rPr>
              <a:t>ACEITO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2114640" y="5219640"/>
            <a:ext cx="31428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00.000.000/E08G-12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362640" y="5257800"/>
            <a:ext cx="12380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130" b="1" u="none" strike="noStrike">
                <a:solidFill>
                  <a:srgbClr val="FF6B6B"/>
                </a:solidFill>
                <a:effectLst/>
                <a:uFillTx/>
                <a:latin typeface="Arial"/>
                <a:ea typeface="Arial"/>
              </a:rPr>
              <a:t>REJEITADO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7715160" y="5219640"/>
            <a:ext cx="31428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00.000.000/E08G-AB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48D7FF"/>
          </a:solidFill>
          <a:ln w="0">
            <a:solidFill>
              <a:srgbClr val="48D7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552600" y="266760"/>
            <a:ext cx="533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CNPJ ALFANUMÉRICO · LFA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552600" y="53352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Três representações, uma única linguagem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0991880" y="399960"/>
            <a:ext cx="666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r">
              <a:lnSpc>
                <a:spcPct val="100000"/>
              </a:lnSpc>
            </a:pPr>
            <a:r>
              <a:rPr lang="en-US" sz="22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552600" y="1276200"/>
            <a:ext cx="11067840" cy="1872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52600" y="650556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UNIVALI · Ciência da Computação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552600" y="1542960"/>
            <a:ext cx="9334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A cadeia aceita é a mesma; o que muda é a forma de descrevê-la.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962000" y="3333600"/>
            <a:ext cx="8267400" cy="2808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666720" y="2247840"/>
            <a:ext cx="3219120" cy="2266560"/>
          </a:xfrm>
          <a:prstGeom prst="roundRect">
            <a:avLst>
              <a:gd name="adj" fmla="val 3361"/>
            </a:avLst>
          </a:prstGeom>
          <a:solidFill>
            <a:srgbClr val="102536"/>
          </a:solidFill>
          <a:ln w="9525">
            <a:solidFill>
              <a:srgbClr val="2844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895320" y="2457360"/>
            <a:ext cx="6663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895320" y="3086280"/>
            <a:ext cx="27619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Gramática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895320" y="3714840"/>
            <a:ext cx="276192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Produções geram os caracteres na ordem da máscara.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4495680" y="2247840"/>
            <a:ext cx="3219120" cy="2266560"/>
          </a:xfrm>
          <a:prstGeom prst="roundRect">
            <a:avLst>
              <a:gd name="adj" fmla="val 3361"/>
            </a:avLst>
          </a:prstGeom>
          <a:solidFill>
            <a:srgbClr val="153247"/>
          </a:solidFill>
          <a:ln w="9525">
            <a:solidFill>
              <a:srgbClr val="48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724280" y="2457360"/>
            <a:ext cx="6663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724280" y="3086280"/>
            <a:ext cx="27619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AFD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724280" y="3714840"/>
            <a:ext cx="276192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Estados registram quantas posições já foram consumidas.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8325000" y="2247840"/>
            <a:ext cx="3219120" cy="2266560"/>
          </a:xfrm>
          <a:prstGeom prst="roundRect">
            <a:avLst>
              <a:gd name="adj" fmla="val 3361"/>
            </a:avLst>
          </a:prstGeom>
          <a:solidFill>
            <a:srgbClr val="102536"/>
          </a:solidFill>
          <a:ln w="9525">
            <a:solidFill>
              <a:srgbClr val="2844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8553600" y="2457360"/>
            <a:ext cx="6663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8553600" y="3086280"/>
            <a:ext cx="27619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Expressão regular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8553600" y="3714840"/>
            <a:ext cx="276192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Classes e quantificadores condensam o caminho.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3143160" y="5181480"/>
            <a:ext cx="59050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270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GRAMÁTICA  ⇄  AFD  ⇄  ER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52600" y="266760"/>
            <a:ext cx="533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CNPJ ALFANUMÉRICO · LFA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552600" y="53352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0B1724"/>
                </a:solidFill>
                <a:effectLst/>
                <a:uFillTx/>
                <a:latin typeface="Arial"/>
                <a:ea typeface="Arial"/>
              </a:rPr>
              <a:t>A gramática gera um símbolo por etapa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0991880" y="399960"/>
            <a:ext cx="666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r">
              <a:lnSpc>
                <a:spcPct val="100000"/>
              </a:lnSpc>
            </a:pPr>
            <a:r>
              <a:rPr lang="en-US" sz="22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52600" y="1276200"/>
            <a:ext cx="11067840" cy="18720"/>
          </a:xfrm>
          <a:prstGeom prst="rect">
            <a:avLst/>
          </a:prstGeom>
          <a:solidFill>
            <a:srgbClr val="B7C7D6"/>
          </a:solidFill>
          <a:ln w="0">
            <a:solidFill>
              <a:srgbClr val="B7C7D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552600" y="650556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UNIVALI · Ciência da Computação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647640" y="1562040"/>
            <a:ext cx="40953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320" b="1" u="none" strike="noStrike">
                <a:solidFill>
                  <a:srgbClr val="3D8DFF"/>
                </a:solidFill>
                <a:effectLst/>
                <a:uFillTx/>
                <a:latin typeface="Courier New"/>
                <a:ea typeface="Courier New"/>
              </a:rPr>
              <a:t>G = (V, T, P, S)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47640" y="2076480"/>
            <a:ext cx="53337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526476"/>
                </a:solidFill>
                <a:effectLst/>
                <a:uFillTx/>
                <a:latin typeface="Courier New"/>
                <a:ea typeface="Courier New"/>
              </a:rPr>
              <a:t>x ∈ {A–Z, 0–9}     d ∈ {0–9}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571680" y="2857680"/>
            <a:ext cx="1999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XX.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571680" y="3371760"/>
            <a:ext cx="1999800" cy="18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S → xA1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A1 → xA2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A2 → .A3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2685960" y="2876400"/>
            <a:ext cx="18720" cy="2285640"/>
          </a:xfrm>
          <a:prstGeom prst="rect">
            <a:avLst/>
          </a:prstGeom>
          <a:solidFill>
            <a:srgbClr val="B8C8D6"/>
          </a:solidFill>
          <a:ln w="0">
            <a:solidFill>
              <a:srgbClr val="B8C8D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2847960" y="2857680"/>
            <a:ext cx="1999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XXX.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2847960" y="3371760"/>
            <a:ext cx="1999800" cy="18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A3 → xA4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A4 → xA5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A5 → xA6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A6 → .A7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4962600" y="2876400"/>
            <a:ext cx="18720" cy="2285640"/>
          </a:xfrm>
          <a:prstGeom prst="rect">
            <a:avLst/>
          </a:prstGeom>
          <a:solidFill>
            <a:srgbClr val="B8C8D6"/>
          </a:solidFill>
          <a:ln w="0">
            <a:solidFill>
              <a:srgbClr val="B8C8D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5124600" y="2857680"/>
            <a:ext cx="1999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XXX/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5124600" y="3371760"/>
            <a:ext cx="1999800" cy="18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A7 → xA8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A8 → xA9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A9 → xA10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A10 → /A11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7238880" y="2876400"/>
            <a:ext cx="18720" cy="2285640"/>
          </a:xfrm>
          <a:prstGeom prst="rect">
            <a:avLst/>
          </a:prstGeom>
          <a:solidFill>
            <a:srgbClr val="B8C8D6"/>
          </a:solidFill>
          <a:ln w="0">
            <a:solidFill>
              <a:srgbClr val="B8C8D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7400880" y="2857680"/>
            <a:ext cx="1999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XXXX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7400880" y="3371760"/>
            <a:ext cx="1999800" cy="18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A11 → xA12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A12 → xA13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A13 → xA14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A14 → xA15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9515520" y="2876400"/>
            <a:ext cx="18720" cy="2285640"/>
          </a:xfrm>
          <a:prstGeom prst="rect">
            <a:avLst/>
          </a:prstGeom>
          <a:solidFill>
            <a:srgbClr val="B8C8D6"/>
          </a:solidFill>
          <a:ln w="0">
            <a:solidFill>
              <a:srgbClr val="B8C8D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9677520" y="2857680"/>
            <a:ext cx="1999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-DD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9677520" y="3371760"/>
            <a:ext cx="1999800" cy="18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A15 → -A16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A16 → dA17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A17 → d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733400" y="5524560"/>
            <a:ext cx="8724600" cy="533160"/>
          </a:xfrm>
          <a:prstGeom prst="roundRect">
            <a:avLst>
              <a:gd name="adj" fmla="val 14286"/>
            </a:avLst>
          </a:prstGeom>
          <a:solidFill>
            <a:srgbClr val="DDF7FF"/>
          </a:solidFill>
          <a:ln w="9525">
            <a:solidFill>
              <a:srgbClr val="DDF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1943280" y="5676840"/>
            <a:ext cx="83055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0B1724"/>
                </a:solidFill>
                <a:effectLst/>
                <a:uFillTx/>
                <a:latin typeface="Arial"/>
                <a:ea typeface="Arial"/>
              </a:rPr>
              <a:t>GLUD: quando existe uma variável, ela aparece à direita e no final da produção.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48D7FF"/>
          </a:solidFill>
          <a:ln w="0">
            <a:solidFill>
              <a:srgbClr val="48D7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552600" y="266760"/>
            <a:ext cx="533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CNPJ ALFANUMÉRICO · LFA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552600" y="53352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A derivação percorre a máscara até restarem só terminais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10991880" y="399960"/>
            <a:ext cx="666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r">
              <a:lnSpc>
                <a:spcPct val="100000"/>
              </a:lnSpc>
            </a:pPr>
            <a:r>
              <a:rPr lang="en-US" sz="22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552600" y="1276200"/>
            <a:ext cx="11067840" cy="1872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552600" y="650556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UNIVALI · Ciência da Computação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552600" y="1504800"/>
            <a:ext cx="72385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48D7FF"/>
                </a:solidFill>
                <a:effectLst/>
                <a:uFillTx/>
                <a:latin typeface="Courier New"/>
                <a:ea typeface="Courier New"/>
              </a:rPr>
              <a:t>Exemplo gerado: 00.000.000/E08G-12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6720" y="2209680"/>
            <a:ext cx="7808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48D7FF"/>
                </a:solidFill>
                <a:effectLst/>
                <a:uFillTx/>
                <a:latin typeface="Courier New"/>
                <a:ea typeface="Courier New"/>
              </a:rPr>
              <a:t>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1523880" y="2209680"/>
            <a:ext cx="9886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→ 0A1 → 00A2 → 00.A3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666720" y="2705040"/>
            <a:ext cx="1074384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66720" y="2914560"/>
            <a:ext cx="7808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48D7FF"/>
                </a:solidFill>
                <a:effectLst/>
                <a:uFillTx/>
                <a:latin typeface="Courier New"/>
                <a:ea typeface="Courier New"/>
              </a:rPr>
              <a:t>A3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1523880" y="2914560"/>
            <a:ext cx="9886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→ 00.0A4 → 00.00A5 → 00.000A6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666720" y="3409920"/>
            <a:ext cx="1074384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666720" y="3619440"/>
            <a:ext cx="7808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48D7FF"/>
                </a:solidFill>
                <a:effectLst/>
                <a:uFillTx/>
                <a:latin typeface="Courier New"/>
                <a:ea typeface="Courier New"/>
              </a:rPr>
              <a:t>A6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523880" y="3619440"/>
            <a:ext cx="9886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→ 00.000.A7 → 00.000.0A8 → 00.000.00A9 → 00.000.000A10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666720" y="4114800"/>
            <a:ext cx="1074384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666720" y="4324320"/>
            <a:ext cx="7808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48D7FF"/>
                </a:solidFill>
                <a:effectLst/>
                <a:uFillTx/>
                <a:latin typeface="Courier New"/>
                <a:ea typeface="Courier New"/>
              </a:rPr>
              <a:t>A10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1523880" y="4324320"/>
            <a:ext cx="9886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→ 00.000.000/A11 → 00.000.000/EA12 → … → 00.000.000/E08GA15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666720" y="4819680"/>
            <a:ext cx="1074384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666720" y="5029200"/>
            <a:ext cx="7808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48D7FF"/>
                </a:solidFill>
                <a:effectLst/>
                <a:uFillTx/>
                <a:latin typeface="Courier New"/>
                <a:ea typeface="Courier New"/>
              </a:rPr>
              <a:t>A15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1523880" y="5029200"/>
            <a:ext cx="9886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3AD29F"/>
                </a:solidFill>
                <a:effectLst/>
                <a:uFillTx/>
                <a:latin typeface="Courier New"/>
                <a:ea typeface="Courier New"/>
              </a:rPr>
              <a:t>→ 00.000.000/E08G-A16 → 00.000.000/E08G-1A17 → 00.000.000/E08G-12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66720" y="5524560"/>
            <a:ext cx="1074384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8724960" y="5810400"/>
            <a:ext cx="2666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algn="r">
              <a:lnSpc>
                <a:spcPct val="100000"/>
              </a:lnSpc>
            </a:pPr>
            <a:r>
              <a:rPr lang="en-US" sz="1200" b="1" u="none" strike="noStrike">
                <a:solidFill>
                  <a:srgbClr val="3AD29F"/>
                </a:solidFill>
                <a:effectLst/>
                <a:uFillTx/>
                <a:latin typeface="Arial"/>
                <a:ea typeface="Arial"/>
              </a:rPr>
              <a:t>CADEIA ACEITA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552600" y="266760"/>
            <a:ext cx="533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CNPJ ALFANUMÉRICO · LFA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552600" y="53352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0B1724"/>
                </a:solidFill>
                <a:effectLst/>
                <a:uFillTx/>
                <a:latin typeface="Arial"/>
                <a:ea typeface="Arial"/>
              </a:rPr>
              <a:t>O AFD transforma cada produção em uma transição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10991880" y="399960"/>
            <a:ext cx="666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r">
              <a:lnSpc>
                <a:spcPct val="100000"/>
              </a:lnSpc>
            </a:pPr>
            <a:r>
              <a:rPr lang="en-US" sz="22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552600" y="1276200"/>
            <a:ext cx="11067840" cy="18720"/>
          </a:xfrm>
          <a:prstGeom prst="rect">
            <a:avLst/>
          </a:prstGeom>
          <a:solidFill>
            <a:srgbClr val="B7C7D6"/>
          </a:solidFill>
          <a:ln w="0">
            <a:solidFill>
              <a:srgbClr val="B7C7D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552600" y="650556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UNIVALI · Ciência da Computação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514440" y="1600200"/>
            <a:ext cx="11143800" cy="384768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B6C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"/>
          <p:cNvPicPr/>
          <p:nvPr/>
        </p:nvPicPr>
        <p:blipFill>
          <a:blip r:embed="rId1"/>
          <a:stretch/>
        </p:blipFill>
        <p:spPr>
          <a:xfrm>
            <a:off x="1108080" y="1809720"/>
            <a:ext cx="9956520" cy="342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"/>
          <p:cNvSpPr/>
          <p:nvPr/>
        </p:nvSpPr>
        <p:spPr>
          <a:xfrm>
            <a:off x="666720" y="5695920"/>
            <a:ext cx="856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JFLAP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1523880" y="5657760"/>
            <a:ext cx="3047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q17 inicial → q18 final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6572160" y="5695920"/>
            <a:ext cx="856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CÓDIGO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7429680" y="5657760"/>
            <a:ext cx="3047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0B1724"/>
                </a:solidFill>
                <a:effectLst/>
                <a:uFillTx/>
                <a:latin typeface="Courier New"/>
                <a:ea typeface="Courier New"/>
              </a:rPr>
              <a:t>q0 inicial → q18 final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666720" y="6076800"/>
            <a:ext cx="10572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A renumeração preserva a linguagem.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48D7FF"/>
          </a:solidFill>
          <a:ln w="0">
            <a:solidFill>
              <a:srgbClr val="48D7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552600" y="266760"/>
            <a:ext cx="533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CNPJ ALFANUMÉRICO · LFA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52600" y="53352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A tabela registra as 18 transições válidas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10991880" y="399960"/>
            <a:ext cx="666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r">
              <a:lnSpc>
                <a:spcPct val="100000"/>
              </a:lnSpc>
            </a:pPr>
            <a:r>
              <a:rPr lang="en-US" sz="22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07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552600" y="1276200"/>
            <a:ext cx="11067840" cy="1872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552600" y="650556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UNIVALI · Ciência da Computação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552600" y="1504800"/>
            <a:ext cx="10667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Qualquer combinação que não aparece abaixo permanece com −1 e representa rejeição.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5" name=""/>
          <p:cNvGraphicFramePr/>
          <p:nvPr/>
        </p:nvGraphicFramePr>
        <p:xfrm>
          <a:off x="666720" y="2057400"/>
          <a:ext cx="5047920" cy="3981240"/>
        </p:xfrm>
        <a:graphic>
          <a:graphicData uri="http://schemas.openxmlformats.org/drawingml/2006/table">
            <a:tbl>
              <a:tblPr/>
              <a:tblGrid>
                <a:gridCol w="1892880"/>
                <a:gridCol w="1261800"/>
                <a:gridCol w="1892880"/>
              </a:tblGrid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6111D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Atual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8D7FF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6111D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Lê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8D7FF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6111D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Próximo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8D7FF"/>
                    </a:solidFill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→ q0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q8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q8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q9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6" name=""/>
          <p:cNvGraphicFramePr/>
          <p:nvPr/>
        </p:nvGraphicFramePr>
        <p:xfrm>
          <a:off x="6477120" y="2057400"/>
          <a:ext cx="5047920" cy="3981240"/>
        </p:xfrm>
        <a:graphic>
          <a:graphicData uri="http://schemas.openxmlformats.org/drawingml/2006/table">
            <a:tbl>
              <a:tblPr/>
              <a:tblGrid>
                <a:gridCol w="1892880"/>
                <a:gridCol w="1261800"/>
                <a:gridCol w="1892880"/>
              </a:tblGrid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6111D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Atual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8D7FF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6111D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Lê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8D7FF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6111D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Próximo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8D7FF"/>
                    </a:solidFill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q9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/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-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536"/>
                    </a:solidFill>
                  </a:tcPr>
                </a:tc>
              </a:tr>
              <a:tr h="39780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q17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6FA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6111D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★ q18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3AD29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552600" y="266760"/>
            <a:ext cx="533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CNPJ ALFANUMÉRICO · LFA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552600" y="53352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0B1724"/>
                </a:solidFill>
                <a:effectLst/>
                <a:uFillTx/>
                <a:latin typeface="Arial"/>
                <a:ea typeface="Arial"/>
              </a:rPr>
              <a:t>A expressão regular resume o caminho do AFD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10991880" y="399960"/>
            <a:ext cx="666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r">
              <a:lnSpc>
                <a:spcPct val="100000"/>
              </a:lnSpc>
            </a:pPr>
            <a:r>
              <a:rPr lang="en-US" sz="22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08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552600" y="1276200"/>
            <a:ext cx="11067840" cy="18720"/>
          </a:xfrm>
          <a:prstGeom prst="rect">
            <a:avLst/>
          </a:prstGeom>
          <a:solidFill>
            <a:srgbClr val="B7C7D6"/>
          </a:solidFill>
          <a:ln w="0">
            <a:solidFill>
              <a:srgbClr val="B7C7D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552600" y="650556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UNIVALI · Ciência da Computação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514440" y="1771560"/>
            <a:ext cx="11143800" cy="1333080"/>
          </a:xfrm>
          <a:prstGeom prst="roundRect">
            <a:avLst>
              <a:gd name="adj" fmla="val 5714"/>
            </a:avLst>
          </a:prstGeom>
          <a:solidFill>
            <a:srgbClr val="0B1724"/>
          </a:solidFill>
          <a:ln w="9525">
            <a:solidFill>
              <a:srgbClr val="0B17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743040" y="2152800"/>
            <a:ext cx="10686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00" b="1" u="none" strike="noStrike">
                <a:solidFill>
                  <a:srgbClr val="48D7FF"/>
                </a:solidFill>
                <a:effectLst/>
                <a:uFillTx/>
                <a:latin typeface="Courier New"/>
                <a:ea typeface="Courier New"/>
              </a:rPr>
              <a:t>^[A-Z0-9]{2}\.[A-Z0-9]{3}\.[A-Z0-9]{3}/[A-Z0-9]{4}-[0-9]{2}$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666720" y="371484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3D8DFF"/>
                </a:solidFill>
                <a:effectLst/>
                <a:uFillTx/>
                <a:latin typeface="Courier New"/>
                <a:ea typeface="Courier New"/>
              </a:rPr>
              <a:t>[A-Z0-9]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666720" y="4191120"/>
            <a:ext cx="2381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8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letra ou número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3505320" y="371484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3D8DFF"/>
                </a:solidFill>
                <a:effectLst/>
                <a:uFillTx/>
                <a:latin typeface="Courier New"/>
                <a:ea typeface="Courier New"/>
              </a:rPr>
              <a:t>{2} {3} {4}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3505320" y="4191120"/>
            <a:ext cx="2381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8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quantidade exata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343560" y="371484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3D8DFF"/>
                </a:solidFill>
                <a:effectLst/>
                <a:uFillTx/>
                <a:latin typeface="Courier New"/>
                <a:ea typeface="Courier New"/>
              </a:rPr>
              <a:t>\. / -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6343560" y="4191120"/>
            <a:ext cx="2381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8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símbolos literais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9182160" y="371484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3D8DFF"/>
                </a:solidFill>
                <a:effectLst/>
                <a:uFillTx/>
                <a:latin typeface="Courier New"/>
                <a:ea typeface="Courier New"/>
              </a:rPr>
              <a:t>[0-9]{2}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9182160" y="4191120"/>
            <a:ext cx="2381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8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dois dígitos finais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1790640" y="5143680"/>
            <a:ext cx="8610120" cy="685440"/>
          </a:xfrm>
          <a:prstGeom prst="roundRect">
            <a:avLst>
              <a:gd name="adj" fmla="val 11111"/>
            </a:avLst>
          </a:prstGeom>
          <a:solidFill>
            <a:srgbClr val="DDF7FF"/>
          </a:solidFill>
          <a:ln w="9525">
            <a:solidFill>
              <a:srgbClr val="DDF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2019240" y="5353200"/>
            <a:ext cx="8152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0B1724"/>
                </a:solidFill>
                <a:effectLst/>
                <a:uFillTx/>
                <a:latin typeface="Arial"/>
                <a:ea typeface="Arial"/>
              </a:rPr>
              <a:t>A ER valida a estrutura; o programa executa o AFD diretamente.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48D7FF"/>
          </a:solidFill>
          <a:ln w="0">
            <a:solidFill>
              <a:srgbClr val="48D7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552600" y="266760"/>
            <a:ext cx="533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CNPJ ALFANUMÉRICO · LFA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552600" y="53352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O projeto separa captura, reconhecimento e contingência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10991880" y="399960"/>
            <a:ext cx="666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r">
              <a:lnSpc>
                <a:spcPct val="100000"/>
              </a:lnSpc>
            </a:pPr>
            <a:r>
              <a:rPr lang="en-US" sz="22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09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552600" y="1276200"/>
            <a:ext cx="11067840" cy="1872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552600" y="650556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UNIVALI · Ciência da Computação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571680" y="1657440"/>
            <a:ext cx="4762080" cy="4095360"/>
          </a:xfrm>
          <a:prstGeom prst="roundRect">
            <a:avLst>
              <a:gd name="adj" fmla="val 1860"/>
            </a:avLst>
          </a:prstGeom>
          <a:solidFill>
            <a:srgbClr val="071019"/>
          </a:solidFill>
          <a:ln w="9525">
            <a:solidFill>
              <a:srgbClr val="2844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781200" y="1809720"/>
            <a:ext cx="4343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ESTRUTURA DO REPOSITÓRIO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781200" y="2095560"/>
            <a:ext cx="434304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838080" y="2247840"/>
            <a:ext cx="4228920" cy="33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M1_LFA_CNPJ_ALEX/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├── python/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│   ├── main.py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│   └── CapturaRecursosWeb.py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├── paginas/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│   └── cnpj-alfanumerico.html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├── README.md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└── AtividadeM1LFA.pdf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5924520" y="182880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6553080" y="1847880"/>
            <a:ext cx="45144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Captura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6553080" y="2190600"/>
            <a:ext cx="45144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CapturaRecursosWeb obtém o HTML da Internet ou lê um arquivo local.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5924520" y="291456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6553080" y="2933640"/>
            <a:ext cx="45144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Construção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6553080" y="3276720"/>
            <a:ext cx="45144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main.py cria o alfabeto, os 19 estados e a matriz 19 × 39.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5924520" y="400068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6553080" y="4019400"/>
            <a:ext cx="45144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Reconhecimento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6553080" y="4362480"/>
            <a:ext cx="45144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A função reconhecer percorre o HTML e guarda cadeias que chegam a q18.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5924520" y="508644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6553080" y="5105520"/>
            <a:ext cx="45144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Saída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6553080" y="5448240"/>
            <a:ext cx="45144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Os resultados são classificados e exibidos separadamente por página.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48D7FF"/>
          </a:solidFill>
          <a:ln w="0">
            <a:solidFill>
              <a:srgbClr val="48D7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552600" y="266760"/>
            <a:ext cx="533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CNPJ ALFANUMÉRICO · LFA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552600" y="53352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As funções de referência conectam símbolos à matriz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10991880" y="399960"/>
            <a:ext cx="666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r">
              <a:lnSpc>
                <a:spcPct val="100000"/>
              </a:lnSpc>
            </a:pPr>
            <a:r>
              <a:rPr lang="en-US" sz="22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552600" y="1276200"/>
            <a:ext cx="11067840" cy="1872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552600" y="650556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UNIVALI · Ciência da Computação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552600" y="1657440"/>
            <a:ext cx="6762240" cy="4209840"/>
          </a:xfrm>
          <a:prstGeom prst="roundRect">
            <a:avLst>
              <a:gd name="adj" fmla="val 1810"/>
            </a:avLst>
          </a:prstGeom>
          <a:solidFill>
            <a:srgbClr val="071019"/>
          </a:solidFill>
          <a:ln w="9525">
            <a:solidFill>
              <a:srgbClr val="2844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762120" y="1809720"/>
            <a:ext cx="6343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ÍNDICES DE COLUNA E LINHA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762120" y="2095560"/>
            <a:ext cx="634320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819000" y="2247840"/>
            <a:ext cx="6229080" cy="34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def getCharRef(alfabeto, simbolo):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for indice in range(len(alfabeto)):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if alfabeto[indice] == simbolo: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    return indice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return -1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def getStringRef(listaEstados, nomeEstado):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for indice in range(len(listaEstados)):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if listaEstados[indice] == nomeEstado: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    return indice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return -1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7848720" y="192420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8477280" y="1943280"/>
            <a:ext cx="2800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getCharRef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8477280" y="2286000"/>
            <a:ext cx="28000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Transforma um caractere, como A ou '.', no índice da coluna correspondente.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7848720" y="321948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8477280" y="3238560"/>
            <a:ext cx="2800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getStringRef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8477280" y="3581280"/>
            <a:ext cx="28000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Transforma o nome q7 no índice da linha que representa esse estado.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7810560" y="4800600"/>
            <a:ext cx="3524040" cy="1066320"/>
          </a:xfrm>
          <a:prstGeom prst="roundRect">
            <a:avLst>
              <a:gd name="adj" fmla="val 7143"/>
            </a:avLst>
          </a:prstGeom>
          <a:solidFill>
            <a:srgbClr val="153247"/>
          </a:solidFill>
          <a:ln w="9525">
            <a:solidFill>
              <a:srgbClr val="48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8020080" y="5010120"/>
            <a:ext cx="8568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FF6B6B"/>
                </a:solidFill>
                <a:effectLst/>
                <a:uFillTx/>
                <a:latin typeface="Arial"/>
                <a:ea typeface="Arial"/>
              </a:rPr>
              <a:t>−1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8877240" y="5048280"/>
            <a:ext cx="2209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símbolo ou estado não localizado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48D7FF"/>
          </a:solidFill>
          <a:ln w="0">
            <a:solidFill>
              <a:srgbClr val="48D7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552600" y="266760"/>
            <a:ext cx="533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CNPJ ALFANUMÉRICO · LFA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552600" y="53352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O alfabeto e os estados definem o tamanho da matriz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10991880" y="399960"/>
            <a:ext cx="666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r">
              <a:lnSpc>
                <a:spcPct val="100000"/>
              </a:lnSpc>
            </a:pPr>
            <a:r>
              <a:rPr lang="en-US" sz="22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552600" y="1276200"/>
            <a:ext cx="11067840" cy="1872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552600" y="650556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UNIVALI · Ciência da Computação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552600" y="1619280"/>
            <a:ext cx="6476760" cy="4476240"/>
          </a:xfrm>
          <a:prstGeom prst="roundRect">
            <a:avLst>
              <a:gd name="adj" fmla="val 1702"/>
            </a:avLst>
          </a:prstGeom>
          <a:solidFill>
            <a:srgbClr val="071019"/>
          </a:solidFill>
          <a:ln w="9525">
            <a:solidFill>
              <a:srgbClr val="2844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762120" y="1771560"/>
            <a:ext cx="60577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ALFABETO E ESTADOS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762120" y="2057400"/>
            <a:ext cx="605772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819000" y="2209680"/>
            <a:ext cx="5943240" cy="37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def criarAlfabeto():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alfabeto = []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for digito in DIGITOS: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alfabeto.append(digito)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for letra in LETRAS: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alfabeto.append(letra)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alfabeto.append(".")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alfabeto.append("/")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alfabeto.append("-")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return alfabeto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def criarEstados():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estados = []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for numeroEstado in range(19):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estados.append("q" + str(numeroEstado))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return estados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7734240" y="1847880"/>
            <a:ext cx="314280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465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39</a:t>
            </a:r>
            <a:endParaRPr lang="en-US" sz="4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7734240" y="2610000"/>
            <a:ext cx="31428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símbolos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7524720" y="3048120"/>
            <a:ext cx="3561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8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10 números + 26 letras + . / -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7829640" y="3638520"/>
            <a:ext cx="2990520" cy="1872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7734240" y="3943440"/>
            <a:ext cx="314280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46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4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7734240" y="4705200"/>
            <a:ext cx="31428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estados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7524720" y="5143680"/>
            <a:ext cx="3561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80" b="0" u="none" strike="noStrike">
                <a:solidFill>
                  <a:srgbClr val="AAB9C8"/>
                </a:solidFill>
                <a:effectLst/>
                <a:uFillTx/>
                <a:latin typeface="Courier New"/>
                <a:ea typeface="Courier New"/>
              </a:rPr>
              <a:t>q0 inicial → q18 final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48D7FF"/>
          </a:solidFill>
          <a:ln w="0">
            <a:solidFill>
              <a:srgbClr val="48D7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552600" y="266760"/>
            <a:ext cx="533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CNPJ ALFANUMÉRICO · LFA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552600" y="53352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Três funções definem os caminhos válidos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10991880" y="399960"/>
            <a:ext cx="666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r">
              <a:lnSpc>
                <a:spcPct val="100000"/>
              </a:lnSpc>
            </a:pPr>
            <a:r>
              <a:rPr lang="en-US" sz="22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552600" y="1276200"/>
            <a:ext cx="11067840" cy="1872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552600" y="650556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UNIVALI · Ciência da Computação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514440" y="1638360"/>
            <a:ext cx="6400440" cy="4419360"/>
          </a:xfrm>
          <a:prstGeom prst="roundRect">
            <a:avLst>
              <a:gd name="adj" fmla="val 1724"/>
            </a:avLst>
          </a:prstGeom>
          <a:solidFill>
            <a:srgbClr val="071019"/>
          </a:solidFill>
          <a:ln w="9525">
            <a:solidFill>
              <a:srgbClr val="2844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723960" y="1790640"/>
            <a:ext cx="5981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TRANSIÇÃO ALFANUMÉRICA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723960" y="2076480"/>
            <a:ext cx="598140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781200" y="2228760"/>
            <a:ext cx="586692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def transicaoAlfanumerico(...):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origem = getStringRef(estados, estadoOrigem)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destino = getStringRef(estados, estadoDestino)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for digito in DIGITOS: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coluna = getCharRef(alfabeto, digito)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matriz[origem][coluna] = destino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for letra in LETRAS: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coluna = getCharRef(alfabeto, letra)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matriz[origem][coluna] = destino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7410600" y="180972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36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8039160" y="1828800"/>
            <a:ext cx="3390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transicaoAlfanumerico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8039160" y="2171880"/>
            <a:ext cx="3390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Libera dez dígitos e 26 letras entre dois estados.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7410600" y="308628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8039160" y="3105000"/>
            <a:ext cx="3390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transicaoDigito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8039160" y="3448080"/>
            <a:ext cx="3390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Libera somente os dez dígitos usados no DV.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7410600" y="436248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8039160" y="4381560"/>
            <a:ext cx="3390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transicaoSimbolo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8039160" y="4724280"/>
            <a:ext cx="3390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Libera um ponto, uma barra ou um hífen específico.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7639200" y="5619600"/>
            <a:ext cx="3524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FF6B6B"/>
                </a:solidFill>
                <a:effectLst/>
                <a:uFillTx/>
                <a:latin typeface="Arial"/>
                <a:ea typeface="Arial"/>
              </a:rPr>
              <a:t>O restante da matriz continua −1.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48D7FF"/>
          </a:solidFill>
          <a:ln w="0">
            <a:solidFill>
              <a:srgbClr val="48D7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552600" y="266760"/>
            <a:ext cx="533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CNPJ ALFANUMÉRICO · LFA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552600" y="53352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reconhecer executa o AFD sobre cada caractere do HTML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10991880" y="399960"/>
            <a:ext cx="666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r">
              <a:lnSpc>
                <a:spcPct val="100000"/>
              </a:lnSpc>
            </a:pPr>
            <a:r>
              <a:rPr lang="en-US" sz="22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552600" y="1276200"/>
            <a:ext cx="11067840" cy="1872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552600" y="650556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UNIVALI · Ciência da Computação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514440" y="1581120"/>
            <a:ext cx="6972120" cy="4667040"/>
          </a:xfrm>
          <a:prstGeom prst="roundRect">
            <a:avLst>
              <a:gd name="adj" fmla="val 1633"/>
            </a:avLst>
          </a:prstGeom>
          <a:solidFill>
            <a:srgbClr val="071019"/>
          </a:solidFill>
          <a:ln w="9525">
            <a:solidFill>
              <a:srgbClr val="2844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723960" y="1733400"/>
            <a:ext cx="65527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NÚCLEO DO RECONHECIMENTO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723960" y="2019240"/>
            <a:ext cx="655272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781200" y="2171880"/>
            <a:ext cx="6438600" cy="39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while indice &lt; len(texto):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simbolo = texto[indice]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estadoAnterior = estado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estado = proximoEstado(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alfabeto, matriz, estado, simbolo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if estado == -1: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estado = getStringRef(estados, estadoInicial)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chegouNoFinal = getStringRef(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    estadosFinais, estados[estadoAnterior]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) != -1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if chegouNoFinal and palavra != "":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    encontrados.append(palavra)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    indice = indice - 1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palavra = ""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else: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palavra = palavra + simbolo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7905600" y="175248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8534520" y="1771560"/>
            <a:ext cx="270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Avança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8534520" y="2114640"/>
            <a:ext cx="27046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proximoEstado consulta a célula correspondente ao estado e ao símbolo atual.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7905600" y="299088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8534520" y="3009960"/>
            <a:ext cx="270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Reinicia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8534520" y="3352680"/>
            <a:ext cx="27046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Ao receber −1, o algoritmo volta para q0 e limpa a palavra parcial.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7905600" y="422928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8534520" y="4248000"/>
            <a:ext cx="270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Guarda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8534520" y="4591080"/>
            <a:ext cx="27046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Se o estado anterior era q18, a cadeia completa é adicionada ao resultado.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7886880" y="5429160"/>
            <a:ext cx="3390480" cy="628200"/>
          </a:xfrm>
          <a:prstGeom prst="roundRect">
            <a:avLst>
              <a:gd name="adj" fmla="val 12121"/>
            </a:avLst>
          </a:prstGeom>
          <a:solidFill>
            <a:srgbClr val="153247"/>
          </a:solidFill>
          <a:ln w="9525">
            <a:solidFill>
              <a:srgbClr val="48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8039160" y="5610240"/>
            <a:ext cx="3085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indice − 1 evita perder o próximo início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48D7FF"/>
          </a:solidFill>
          <a:ln w="0">
            <a:solidFill>
              <a:srgbClr val="48D7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552600" y="266760"/>
            <a:ext cx="533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CNPJ ALFANUMÉRICO · LFA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552600" y="53352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A captura usa a Web e mantém um fallback local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10991880" y="399960"/>
            <a:ext cx="666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r">
              <a:lnSpc>
                <a:spcPct val="100000"/>
              </a:lnSpc>
            </a:pPr>
            <a:r>
              <a:rPr lang="en-US" sz="22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552600" y="1276200"/>
            <a:ext cx="11067840" cy="1872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552600" y="650556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UNIVALI · Ciência da Computação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514440" y="1581120"/>
            <a:ext cx="6762240" cy="4628880"/>
          </a:xfrm>
          <a:prstGeom prst="roundRect">
            <a:avLst>
              <a:gd name="adj" fmla="val 1646"/>
            </a:avLst>
          </a:prstGeom>
          <a:solidFill>
            <a:srgbClr val="071019"/>
          </a:solidFill>
          <a:ln w="9525">
            <a:solidFill>
              <a:srgbClr val="2844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723960" y="1733400"/>
            <a:ext cx="6343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BAIXARHTML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723960" y="2019240"/>
            <a:ext cx="634320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781200" y="2171880"/>
            <a:ext cx="6229080" cy="38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def baixarHtml(urlWeb, urlLocal):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captura = CapturaRecursosWeb()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captura.getListaRecursos().append(urlWeb)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paginas = captura.carregarRecursos()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if len(paginas) &gt; 0: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html = paginas[0]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if html is not None and html != "":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    return html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captura = CapturaRecursosWeb()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captura.getListaRecursos().append(urlLocal)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paginas = captura.carregarRecursos()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if len(paginas) &gt; 0: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return paginas[0]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return ""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7734240" y="1809720"/>
            <a:ext cx="7617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WEB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8572680" y="1828800"/>
            <a:ext cx="2723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Primeira tentativa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8572680" y="2171880"/>
            <a:ext cx="27237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urllib.request baixa o código-fonte HTML da URL configurada.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7734240" y="3143160"/>
            <a:ext cx="7617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15s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8572680" y="3162240"/>
            <a:ext cx="2723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Timeout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8572680" y="3505320"/>
            <a:ext cx="27237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Se a página não responder, a exceção é tratada pela classe de captura.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7734240" y="4476600"/>
            <a:ext cx="952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LOCAL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8763120" y="4495680"/>
            <a:ext cx="2533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Contingência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8763120" y="4838760"/>
            <a:ext cx="25333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O arquivo paginas/cnpj-alfanumerico.html mantém a demonstração funcional.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552600" y="266760"/>
            <a:ext cx="533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CNPJ ALFANUMÉRICO · LFA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552600" y="53352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0B1724"/>
                </a:solidFill>
                <a:effectLst/>
                <a:uFillTx/>
                <a:latin typeface="Arial"/>
                <a:ea typeface="Arial"/>
              </a:rPr>
              <a:t>main conecta as quatro páginas ao reconhecedor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10991880" y="399960"/>
            <a:ext cx="666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r">
              <a:lnSpc>
                <a:spcPct val="100000"/>
              </a:lnSpc>
            </a:pPr>
            <a:r>
              <a:rPr lang="en-US" sz="22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552600" y="1276200"/>
            <a:ext cx="11067840" cy="18720"/>
          </a:xfrm>
          <a:prstGeom prst="rect">
            <a:avLst/>
          </a:prstGeom>
          <a:solidFill>
            <a:srgbClr val="B7C7D6"/>
          </a:solidFill>
          <a:ln w="0">
            <a:solidFill>
              <a:srgbClr val="B7C7D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552600" y="650556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UNIVALI · Ciência da Computação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514440" y="1581120"/>
            <a:ext cx="6190920" cy="4609800"/>
          </a:xfrm>
          <a:prstGeom prst="roundRect">
            <a:avLst>
              <a:gd name="adj" fmla="val 1653"/>
            </a:avLst>
          </a:prstGeom>
          <a:solidFill>
            <a:srgbClr val="071019"/>
          </a:solidFill>
          <a:ln w="9525">
            <a:solidFill>
              <a:srgbClr val="2844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723960" y="1733400"/>
            <a:ext cx="57718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FLUXO PRINCIPAL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723960" y="2019240"/>
            <a:ext cx="577188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781200" y="2171880"/>
            <a:ext cx="5657400" cy="38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alfabeto = criarAlfabeto()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estados = criarEstados()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estadoInicial = "q0"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estadosFinais = ["q18"]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matriz = criarMatriz(alfabeto, estados)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for indicePagina in range(len(urls)):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html = baixarHtml(urls[indicePagina], urlLocal)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html = html.upper()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encontrados = reconhecer(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html, alfabeto, estados,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estadoInicial, estadosFinais, matriz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exibirResultados(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    indicePagina + 1, urls[indicePagina], encontrados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    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7238880" y="1752480"/>
            <a:ext cx="4950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7848720" y="1771560"/>
            <a:ext cx="2952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0B1724"/>
                </a:solidFill>
                <a:effectLst/>
                <a:uFillTx/>
                <a:latin typeface="Arial"/>
                <a:ea typeface="Arial"/>
              </a:rPr>
              <a:t>Samsung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7848720" y="2133720"/>
            <a:ext cx="3238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samsung.com/br/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7238880" y="2533680"/>
            <a:ext cx="4038120" cy="9000"/>
          </a:xfrm>
          <a:prstGeom prst="rect">
            <a:avLst/>
          </a:prstGeom>
          <a:solidFill>
            <a:srgbClr val="C6D2DD"/>
          </a:solidFill>
          <a:ln w="0">
            <a:solidFill>
              <a:srgbClr val="C6D2D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7238880" y="2762280"/>
            <a:ext cx="4950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7848720" y="2781360"/>
            <a:ext cx="2952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0B1724"/>
                </a:solidFill>
                <a:effectLst/>
                <a:uFillTx/>
                <a:latin typeface="Arial"/>
                <a:ea typeface="Arial"/>
              </a:rPr>
              <a:t>G1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7848720" y="3143160"/>
            <a:ext cx="3238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primeiro CNPJ alfanumérico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7238880" y="3543480"/>
            <a:ext cx="4038120" cy="9000"/>
          </a:xfrm>
          <a:prstGeom prst="rect">
            <a:avLst/>
          </a:prstGeom>
          <a:solidFill>
            <a:srgbClr val="C6D2DD"/>
          </a:solidFill>
          <a:ln w="0">
            <a:solidFill>
              <a:srgbClr val="C6D2D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7238880" y="3772080"/>
            <a:ext cx="4950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7848720" y="3790800"/>
            <a:ext cx="2952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0B1724"/>
                </a:solidFill>
                <a:effectLst/>
                <a:uFillTx/>
                <a:latin typeface="Arial"/>
                <a:ea typeface="Arial"/>
              </a:rPr>
              <a:t>Batedor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7848720" y="4152960"/>
            <a:ext cx="3238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novo formato do CNPJ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7238880" y="4552920"/>
            <a:ext cx="4038120" cy="9000"/>
          </a:xfrm>
          <a:prstGeom prst="rect">
            <a:avLst/>
          </a:prstGeom>
          <a:solidFill>
            <a:srgbClr val="C6D2DD"/>
          </a:solidFill>
          <a:ln w="0">
            <a:solidFill>
              <a:srgbClr val="C6D2D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7238880" y="4781520"/>
            <a:ext cx="4950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7848720" y="4800600"/>
            <a:ext cx="2952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0B1724"/>
                </a:solidFill>
                <a:effectLst/>
                <a:uFillTx/>
                <a:latin typeface="Arial"/>
                <a:ea typeface="Arial"/>
              </a:rPr>
              <a:t>KaBuM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7848720" y="5162400"/>
            <a:ext cx="3238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kabum.com.br/sobre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7238880" y="5562720"/>
            <a:ext cx="4038120" cy="9000"/>
          </a:xfrm>
          <a:prstGeom prst="rect">
            <a:avLst/>
          </a:prstGeom>
          <a:solidFill>
            <a:srgbClr val="C6D2DD"/>
          </a:solidFill>
          <a:ln w="0">
            <a:solidFill>
              <a:srgbClr val="C6D2D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7238880" y="5867280"/>
            <a:ext cx="4038120" cy="361440"/>
          </a:xfrm>
          <a:prstGeom prst="roundRect">
            <a:avLst>
              <a:gd name="adj" fmla="val 21053"/>
            </a:avLst>
          </a:prstGeom>
          <a:solidFill>
            <a:srgbClr val="DDF7FF"/>
          </a:solidFill>
          <a:ln w="9525">
            <a:solidFill>
              <a:srgbClr val="DDF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7391520" y="5952960"/>
            <a:ext cx="37335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B1724"/>
                </a:solidFill>
                <a:effectLst/>
                <a:uFillTx/>
                <a:latin typeface="Arial"/>
                <a:ea typeface="Arial"/>
              </a:rPr>
              <a:t>html.upper() normaliza letras antes da leitura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48D7FF"/>
          </a:solidFill>
          <a:ln w="0">
            <a:solidFill>
              <a:srgbClr val="48D7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552600" y="266760"/>
            <a:ext cx="533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CNPJ ALFANUMÉRICO · LFA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552600" y="53352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A versão atual encontrou 12 ocorrências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10991880" y="399960"/>
            <a:ext cx="666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r">
              <a:lnSpc>
                <a:spcPct val="100000"/>
              </a:lnSpc>
            </a:pPr>
            <a:r>
              <a:rPr lang="en-US" sz="22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552600" y="1276200"/>
            <a:ext cx="11067840" cy="1872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552600" y="650556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UNIVALI · Ciência da Computação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685800" y="4514760"/>
            <a:ext cx="577188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399960" y="4400640"/>
            <a:ext cx="22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r">
              <a:lnSpc>
                <a:spcPct val="100000"/>
              </a:lnSpc>
            </a:pPr>
            <a:r>
              <a:rPr lang="en-US" sz="105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685800" y="3600360"/>
            <a:ext cx="577188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399960" y="3486240"/>
            <a:ext cx="22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r">
              <a:lnSpc>
                <a:spcPct val="100000"/>
              </a:lnSpc>
            </a:pPr>
            <a:r>
              <a:rPr lang="en-US" sz="105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685800" y="2685960"/>
            <a:ext cx="577188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399960" y="2571840"/>
            <a:ext cx="22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r">
              <a:lnSpc>
                <a:spcPct val="100000"/>
              </a:lnSpc>
            </a:pPr>
            <a:r>
              <a:rPr lang="en-US" sz="105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685800" y="5429160"/>
            <a:ext cx="5771880" cy="18720"/>
          </a:xfrm>
          <a:prstGeom prst="rect">
            <a:avLst/>
          </a:prstGeom>
          <a:solidFill>
            <a:srgbClr val="AAB9C8"/>
          </a:solidFill>
          <a:ln w="0">
            <a:solidFill>
              <a:srgbClr val="AAB9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876240" y="4971960"/>
            <a:ext cx="875880" cy="456840"/>
          </a:xfrm>
          <a:prstGeom prst="roundRect">
            <a:avLst>
              <a:gd name="adj" fmla="val 16667"/>
            </a:avLst>
          </a:prstGeom>
          <a:solidFill>
            <a:srgbClr val="48D7FF"/>
          </a:solidFill>
          <a:ln w="9525">
            <a:solidFill>
              <a:srgbClr val="48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876240" y="4648320"/>
            <a:ext cx="8758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743040" y="5543640"/>
            <a:ext cx="1142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Samsung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2305080" y="2685960"/>
            <a:ext cx="875880" cy="2742840"/>
          </a:xfrm>
          <a:prstGeom prst="roundRect">
            <a:avLst>
              <a:gd name="adj" fmla="val 8696"/>
            </a:avLst>
          </a:prstGeom>
          <a:solidFill>
            <a:srgbClr val="48D7FF"/>
          </a:solidFill>
          <a:ln w="9525">
            <a:solidFill>
              <a:srgbClr val="48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2305080" y="2362320"/>
            <a:ext cx="8758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2171880" y="5543640"/>
            <a:ext cx="1142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G1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3733920" y="3600360"/>
            <a:ext cx="875880" cy="1828440"/>
          </a:xfrm>
          <a:prstGeom prst="roundRect">
            <a:avLst>
              <a:gd name="adj" fmla="val 8696"/>
            </a:avLst>
          </a:prstGeom>
          <a:solidFill>
            <a:srgbClr val="48D7FF"/>
          </a:solidFill>
          <a:ln w="9525">
            <a:solidFill>
              <a:srgbClr val="48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3733920" y="3276720"/>
            <a:ext cx="8758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3600360" y="5543640"/>
            <a:ext cx="1142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Batedor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5162400" y="4971960"/>
            <a:ext cx="875880" cy="456840"/>
          </a:xfrm>
          <a:prstGeom prst="roundRect">
            <a:avLst>
              <a:gd name="adj" fmla="val 16667"/>
            </a:avLst>
          </a:prstGeom>
          <a:solidFill>
            <a:srgbClr val="48D7FF"/>
          </a:solidFill>
          <a:ln w="9525">
            <a:solidFill>
              <a:srgbClr val="48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5162400" y="4648320"/>
            <a:ext cx="8758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5029200" y="5543640"/>
            <a:ext cx="1142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KaBuM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7810560" y="1638360"/>
            <a:ext cx="323820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510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5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7810560" y="2457360"/>
            <a:ext cx="3238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ocorrências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8001000" y="3048120"/>
            <a:ext cx="2857320" cy="1872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7639200" y="3333600"/>
            <a:ext cx="15235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2850" b="1" u="none" strike="noStrike">
                <a:solidFill>
                  <a:srgbClr val="3AD29F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7639200" y="3828960"/>
            <a:ext cx="1523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28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alfanuméricas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9505800" y="3333600"/>
            <a:ext cx="15235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28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9505800" y="3828960"/>
            <a:ext cx="1523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28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numéricas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7543800" y="4514760"/>
            <a:ext cx="3524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Exemplos retornados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7543800" y="4915080"/>
            <a:ext cx="3619080" cy="8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00.000.000/E08G-12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12.ABC.345/01DE-35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F6FAFF"/>
                </a:solidFill>
                <a:effectLst/>
                <a:uFillTx/>
                <a:latin typeface="Courier New"/>
                <a:ea typeface="Courier New"/>
              </a:rPr>
              <a:t>05.570.714/0001-59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7543800" y="5962680"/>
            <a:ext cx="3619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Execução realizada em 02/09/2026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552600" y="266760"/>
            <a:ext cx="533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CNPJ ALFANUMÉRICO · LFA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552600" y="53352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0B1724"/>
                </a:solidFill>
                <a:effectLst/>
                <a:uFillTx/>
                <a:latin typeface="Arial"/>
                <a:ea typeface="Arial"/>
              </a:rPr>
              <a:t>Os testes separam formato correto de validação fiscal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10991880" y="399960"/>
            <a:ext cx="666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r">
              <a:lnSpc>
                <a:spcPct val="100000"/>
              </a:lnSpc>
            </a:pPr>
            <a:r>
              <a:rPr lang="en-US" sz="22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552600" y="1276200"/>
            <a:ext cx="11067840" cy="18720"/>
          </a:xfrm>
          <a:prstGeom prst="rect">
            <a:avLst/>
          </a:prstGeom>
          <a:solidFill>
            <a:srgbClr val="B7C7D6"/>
          </a:solidFill>
          <a:ln w="0">
            <a:solidFill>
              <a:srgbClr val="B7C7D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552600" y="650556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526476"/>
                </a:solidFill>
                <a:effectLst/>
                <a:uFillTx/>
                <a:latin typeface="Arial"/>
                <a:ea typeface="Arial"/>
              </a:rPr>
              <a:t>UNIVALI · Ciência da Computação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2" name=""/>
          <p:cNvGraphicFramePr/>
          <p:nvPr/>
        </p:nvGraphicFramePr>
        <p:xfrm>
          <a:off x="514440" y="1752480"/>
          <a:ext cx="7524360" cy="3733560"/>
        </p:xfrm>
        <a:graphic>
          <a:graphicData uri="http://schemas.openxmlformats.org/drawingml/2006/table">
            <a:tbl>
              <a:tblPr/>
              <a:tblGrid>
                <a:gridCol w="3135240"/>
                <a:gridCol w="1410840"/>
                <a:gridCol w="2978280"/>
              </a:tblGrid>
              <a:tr h="62208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Cadeia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1724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Resultado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1724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Motivo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1724"/>
                    </a:solidFill>
                  </a:tcPr>
                </a:tc>
              </a:tr>
              <a:tr h="62208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172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00.000.000/E08G-12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7B56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ACEITA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5E9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172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Máscara completa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208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172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0A.B2C.3D4/E5F6-78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7B56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ACEITA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5E9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172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12 alfanuméricos + 2 dígitos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EF5"/>
                    </a:solidFill>
                  </a:tcPr>
                </a:tc>
              </a:tr>
              <a:tr h="62208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172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00.000.000/E08G-AB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B42318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REJEITA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172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DV contém letras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208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172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00.000.000/E08G-1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B42318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REJEITA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172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Falta um dígito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EF5"/>
                    </a:solidFill>
                  </a:tcPr>
                </a:tc>
              </a:tr>
              <a:tr h="622080"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172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00-000-000/E08G-12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B42318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REJEITA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 lIns="66600" tIns="37800" rIns="666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172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Pontuação incorreta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3" name=""/>
          <p:cNvSpPr/>
          <p:nvPr/>
        </p:nvSpPr>
        <p:spPr>
          <a:xfrm>
            <a:off x="8458200" y="1752480"/>
            <a:ext cx="3123720" cy="3733560"/>
          </a:xfrm>
          <a:prstGeom prst="roundRect">
            <a:avLst>
              <a:gd name="adj" fmla="val 2439"/>
            </a:avLst>
          </a:prstGeom>
          <a:solidFill>
            <a:srgbClr val="0B1724"/>
          </a:solidFill>
          <a:ln w="9525">
            <a:solidFill>
              <a:srgbClr val="0B17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8705880" y="2038320"/>
            <a:ext cx="25714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FFCC66"/>
                </a:solidFill>
                <a:effectLst/>
                <a:uFillTx/>
                <a:latin typeface="Arial"/>
                <a:ea typeface="Arial"/>
              </a:rPr>
              <a:t>LIMITAÇÃO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8705880" y="2571840"/>
            <a:ext cx="257148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0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O AFD reconhece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10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a estrutura.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8705880" y="3638520"/>
            <a:ext cx="257148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Ele não calcula matematicamente os dois dígitos verificadores.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8705880" y="4762440"/>
            <a:ext cx="2571480" cy="1872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8705880" y="4991040"/>
            <a:ext cx="2571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FF6B6B"/>
                </a:solidFill>
                <a:effectLst/>
                <a:uFillTx/>
                <a:latin typeface="Arial"/>
                <a:ea typeface="Arial"/>
              </a:rPr>
              <a:t>Formato válido ≠ inscrição válida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48D7FF"/>
          </a:solidFill>
          <a:ln w="0">
            <a:solidFill>
              <a:srgbClr val="48D7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552600" y="266760"/>
            <a:ext cx="533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CNPJ ALFANUMÉRICO · LFA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552600" y="53352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Fontes, páginas analisadas e código-fonte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10991880" y="399960"/>
            <a:ext cx="666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r">
              <a:lnSpc>
                <a:spcPct val="100000"/>
              </a:lnSpc>
            </a:pPr>
            <a:r>
              <a:rPr lang="en-US" sz="2250" b="1" u="none" strike="noStrike">
                <a:solidFill>
                  <a:srgbClr val="3D8DFF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552600" y="1276200"/>
            <a:ext cx="11067840" cy="1872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552600" y="650556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UNIVALI · Ciência da Computação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609480" y="1714680"/>
            <a:ext cx="552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1314360" y="1733400"/>
            <a:ext cx="4476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Receita Federal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1314360" y="2114640"/>
            <a:ext cx="4476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gov.br/receitafederal · Projeto CNPJ Alfanumérico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609480" y="2743200"/>
            <a:ext cx="495252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609480" y="3067200"/>
            <a:ext cx="552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1314360" y="3086280"/>
            <a:ext cx="4476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Repositório do projeto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1314360" y="3467160"/>
            <a:ext cx="4476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github.com/Lipe-meira/M1_LFA_CNPJ_ALEX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609480" y="4095720"/>
            <a:ext cx="495252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609480" y="4419720"/>
            <a:ext cx="552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1314360" y="4438800"/>
            <a:ext cx="4476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Samsung Brasil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1314360" y="4819680"/>
            <a:ext cx="4476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samsung.com/br/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609480" y="5448240"/>
            <a:ext cx="495252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6286680" y="1714680"/>
            <a:ext cx="552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6991200" y="1733400"/>
            <a:ext cx="4476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G1 Empreendedorismo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6991200" y="2114640"/>
            <a:ext cx="4476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Primeiro CNPJ alfanumérico do Brasil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6286680" y="2743200"/>
            <a:ext cx="495252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6286680" y="3067200"/>
            <a:ext cx="552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6991200" y="3086280"/>
            <a:ext cx="4476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Batedor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6991200" y="3467160"/>
            <a:ext cx="4476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blog/cnpj-alfanumerico-novo-formato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6286680" y="4095720"/>
            <a:ext cx="495252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6286680" y="4419720"/>
            <a:ext cx="552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6991200" y="4438800"/>
            <a:ext cx="4476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KaBuM!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6991200" y="4819680"/>
            <a:ext cx="4476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kabum.com.br/sobre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6286680" y="5448240"/>
            <a:ext cx="4952520" cy="9000"/>
          </a:xfrm>
          <a:prstGeom prst="rect">
            <a:avLst/>
          </a:prstGeom>
          <a:solidFill>
            <a:srgbClr val="284459"/>
          </a:solidFill>
          <a:ln w="0">
            <a:solidFill>
              <a:srgbClr val="28445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1828800" y="5829480"/>
            <a:ext cx="8534160" cy="437760"/>
          </a:xfrm>
          <a:prstGeom prst="roundRect">
            <a:avLst>
              <a:gd name="adj" fmla="val 17391"/>
            </a:avLst>
          </a:prstGeom>
          <a:solidFill>
            <a:srgbClr val="153247"/>
          </a:solidFill>
          <a:ln w="9525">
            <a:solidFill>
              <a:srgbClr val="1532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2038320" y="5934240"/>
            <a:ext cx="8115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Relatório acadêmico elaborado pelos autores · UNIVALI · 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"/>
          <p:cNvSpPr/>
          <p:nvPr/>
        </p:nvSpPr>
        <p:spPr>
          <a:xfrm>
            <a:off x="0" y="0"/>
            <a:ext cx="171000" cy="6857640"/>
          </a:xfrm>
          <a:prstGeom prst="rect">
            <a:avLst/>
          </a:prstGeom>
          <a:solidFill>
            <a:srgbClr val="48D7FF"/>
          </a:solidFill>
          <a:ln w="0">
            <a:solidFill>
              <a:srgbClr val="48D7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590400" y="419040"/>
            <a:ext cx="2857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CONCLUSÃO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590400" y="1028880"/>
            <a:ext cx="809604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405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A teoria virou um</a:t>
            </a:r>
            <a:endParaRPr lang="en-US" sz="4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405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reconhecedor funcional</a:t>
            </a:r>
            <a:endParaRPr lang="en-US" sz="4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628560" y="2724120"/>
            <a:ext cx="7238520" cy="9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Gramática, AFD e expressão regular descrevem a mesma linguagem. O código comprova essa equivalência ao localizar o padrão em HTML real.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628560" y="436248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1257480" y="4381560"/>
            <a:ext cx="270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Modelo formal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1257480" y="4724280"/>
            <a:ext cx="27046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GLUD, AFD determinístico, tabela e ER equivalente.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4172040" y="436248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4800600" y="4381560"/>
            <a:ext cx="270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Aplicação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4800600" y="4724280"/>
            <a:ext cx="27046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Quatro páginas analisadas e 12 ocorrências reconhecidas.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7715160" y="4362480"/>
            <a:ext cx="552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48D7FF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8344080" y="4381560"/>
            <a:ext cx="270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6FAFF"/>
                </a:solidFill>
                <a:effectLst/>
                <a:uFillTx/>
                <a:latin typeface="Arial"/>
                <a:ea typeface="Arial"/>
              </a:rPr>
              <a:t>Escopo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8344080" y="4724280"/>
            <a:ext cx="27046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AAB9C8"/>
                </a:solidFill>
                <a:effectLst/>
                <a:uFillTx/>
                <a:latin typeface="Arial"/>
                <a:ea typeface="Arial"/>
              </a:rPr>
              <a:t>Reconhecimento estrutural sem cálculo matemático do DV.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590400" y="5886360"/>
            <a:ext cx="10477080" cy="456840"/>
          </a:xfrm>
          <a:prstGeom prst="roundRect">
            <a:avLst>
              <a:gd name="adj" fmla="val 16667"/>
            </a:avLst>
          </a:prstGeom>
          <a:solidFill>
            <a:srgbClr val="48D7FF"/>
          </a:solidFill>
          <a:ln w="9525">
            <a:solidFill>
              <a:srgbClr val="48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800280" y="5991120"/>
            <a:ext cx="10058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06111D"/>
                </a:solidFill>
                <a:effectLst/>
                <a:uFillTx/>
                <a:latin typeface="Courier New"/>
                <a:ea typeface="Courier New"/>
              </a:rPr>
              <a:t>github.com/Lipe-meira/M1_LFA_CNPJ_ALEX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LibreOfficeDev/26.8.0.0.alpha0$Linux_X86_64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2026-09-02T00:24:36Z</dcterms:created>
  <dc:creator>Walnut Exporter</dc:creator>
  <dc:description/>
  <dc:language>en-US</dc:language>
  <cp:lastModifiedBy>Walnut Exporter</cp:lastModifiedBy>
  <dcterms:modified xsi:type="dcterms:W3CDTF">2026-09-02T00:24:36Z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